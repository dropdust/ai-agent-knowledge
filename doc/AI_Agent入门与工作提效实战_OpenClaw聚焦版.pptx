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重点：让学员理解 Agent 与普通聊天机器人的区别——一个只会回答，一个能真正执行任务。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同时覆盖文职与技术岗两类学员的痛点，说明 Agent 是普适的生产力工具。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用「数字员工」类比，把抽象组件翻译成职场人能懂的对应关系。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五个组件先给整体印象，第三章深入机制，第五、六章在 OpenClaw 里逐一落地。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强调闭环：Agent 不是一次性输出，而是会检查、会修正的循环过程。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一张图讲清六大概念的关系：大脑驱动一切，工具经 MCP 接入，记忆含知识库(RAG)，技能是封装。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短期/长期记忆的区分是理解 Agent 的关键。OpenClaw 的记忆存成本地 Markdown 文件，跨会话、跨渠道都记得。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技能让「经验」可以沉淀和复用。OpenClaw 的 SKILL.md 就是标准形态，还能用自然语言让 AI 自创技能。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工具是 Agent 与聊天机器人的分水岭。OpenClaw 内置大量工具，还可通过插件无限扩展。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MCP 是当前最热的「工具接入标准」。OpenClaw 有 migrate-claude 插件，可直接导入 Claude 的 MCP 服务器与技能。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知识库是「记忆」的企业级落地。接入 OpenClaw 后，客服知识库能让它答准公司口径。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 是知识库背后的核心技术，解释「AI 为何能答对私有问题」。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把过去 8 页逐个产品介绍压缩成一张总览：让学员知道「选择很多」，但不陷在工具清单里。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明确「少即是多」：用 OpenClaw 作为唯一主线，把前面的抽象概念全部落到一个具体产品上。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一句话：OpenClaw 不是聊天机器人，是把你家/公司的软件和聊天工具都串起来、让 AI 替你动手的「总控台」。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讲清「网关」概念：一个后台进程连接所有聊天软件与模型，是 OpenClaw 的神经中枢。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多通道是 OpenClaw 区别于单入口编程工具的核心差异，也是「全渠道客服」的关键。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这一页把第三章的「记忆 / 技能 / 工具」三个抽象概念，逐个映射到 OpenClaw 的具体实现。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「主动执行」是 OpenClaw 与传统聊天 AI 最本质的区别：传统 AI 只被动响应，OpenClaw 会定时、主动地干活。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生态与安全一页讲清：它不只是个人玩具，已被大厂产品采纳，且具备企业级的隐私与权限控制。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安装只要一条命令。onboard 向导会引导选模型、接渠道，非技术学员也能跟着点。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接渠道是「一句话干活」的前提。微信走腾讯官方插件扫码登录，飞书走 App ID/Secret。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这是第三章「知识库 + 技能 + 记忆」在客服场景的完整落地，学员可对照组件逐个找对应。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「主动执行」的典型场景：从被动问答，变成它记得你的截止日期、主动提醒并给出文件。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覆盖文职与技术两类学员：同一套 OpenClaw，办公岗当助理、技术岗当编程副驾驶。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给出一张「可交给 Agent 的活」清单，让学员带回去对照自己的工作。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给出可执行的最小行动路径，降低学员的启动门槛。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四条最佳实践是「用好 Agent」的核心心法。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安全提示不能少，尤其面向企业内部使用。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收尾呼应开头，用一个明确的行动号召结束课程。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第一章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认识 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CFD8E8"/>
                </a:solidFill>
                <a:latin typeface="微软雅黑"/>
                <a:ea typeface="微软雅黑"/>
              </a:rPr>
              <a:t>背景知识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E7888"/>
                </a:solidFill>
                <a:latin typeface="微软雅黑"/>
                <a:ea typeface="微软雅黑"/>
              </a:rPr>
              <a:t>第一章 · 背景知识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微软雅黑"/>
                <a:ea typeface="微软雅黑"/>
              </a:rPr>
              <a:t>1.1 从「聊天机器人」到「智能体」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16736"/>
            <a:ext cx="1463040" cy="5486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55064"/>
            <a:ext cx="10789920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大模型（ChatGPT、豆包、文心一言、DeepSeek）很会「说」：写文案、答问题</a:t>
            </a:r>
          </a:p>
          <a:p>
            <a:pPr marL="384048" indent="-201168"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6E7888"/>
                </a:solidFill>
                <a:latin typeface="微软雅黑"/>
                <a:ea typeface="微软雅黑"/>
              </a:rPr>
              <a:t>–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但它只停留在「对话」——不会主动查资料、做表格、改代码、发邮件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5EA7"/>
                </a:solidFill>
                <a:latin typeface="微软雅黑"/>
                <a:ea typeface="微软雅黑"/>
              </a:rPr>
              <a:t>AI Agent = 大模型 + 工具 + 自主行动</a:t>
            </a:r>
          </a:p>
          <a:p>
            <a:pPr marL="384048" indent="-201168"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6E7888"/>
                </a:solidFill>
                <a:latin typeface="微软雅黑"/>
                <a:ea typeface="微软雅黑"/>
              </a:rPr>
              <a:t>–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它不仅能「说」，还能「动手」完成一整套任务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2B2B"/>
                </a:solidFill>
                <a:latin typeface="微软雅黑"/>
                <a:ea typeface="微软雅黑"/>
              </a:rPr>
              <a:t>一句话：Agent 是「会干活的 AI」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 · OpenClaw 聚焦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E7888"/>
                </a:solidFill>
                <a:latin typeface="微软雅黑"/>
                <a:ea typeface="微软雅黑"/>
              </a:rPr>
              <a:t>第一章 · 背景知识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微软雅黑"/>
                <a:ea typeface="微软雅黑"/>
              </a:rPr>
              <a:t>1.2 为什么现在要关注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16736"/>
            <a:ext cx="1463040" cy="5486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55064"/>
            <a:ext cx="10789920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文职：写报告、做表格、整理资料、发通知、做纪要——重复、规则明确，最适合交给 Agent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技术：写代码、查 Bug、做重构、跑测试——Agent 已成「深度依赖」生产力工具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5EA7"/>
                </a:solidFill>
                <a:latin typeface="微软雅黑"/>
                <a:ea typeface="微软雅黑"/>
              </a:rPr>
              <a:t>Agent 7×24 待命、不知疲倦；企业降本增效、数字化转型是大势所趋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把时间省下来，去做更需要「判断和沟通」的工作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 · OpenClaw 聚焦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微软雅黑"/>
                <a:ea typeface="微软雅黑"/>
              </a:rPr>
              <a:t>1.3 一个直观类比：Agent = 数字员工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463040" cy="5486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83080"/>
          <a:ext cx="1069848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023360"/>
                <a:gridCol w="429768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Agent 组件</a:t>
                      </a:r>
                    </a:p>
                  </a:txBody>
                  <a:tcPr anchor="ctr" marL="91440" marR="54864" marT="18288" marB="18288">
                    <a:solidFill>
                      <a:srgbClr val="2B5EA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相当于「员工」的什么</a:t>
                      </a:r>
                    </a:p>
                  </a:txBody>
                  <a:tcPr anchor="ctr" marL="91440" marR="54864" marT="18288" marB="18288">
                    <a:solidFill>
                      <a:srgbClr val="2B5EA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一句话理解</a:t>
                      </a:r>
                    </a:p>
                  </a:txBody>
                  <a:tcPr anchor="ctr" marL="91440" marR="54864" marT="18288" marB="18288">
                    <a:solidFill>
                      <a:srgbClr val="2B5EA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大脑（大模型）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会思考、会表达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懂任务、能生成内容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工具（调用能力）</a:t>
                      </a:r>
                    </a:p>
                  </a:txBody>
                  <a:tcPr anchor="ctr" marL="91440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有手脚、会操作软件</a:t>
                      </a:r>
                    </a:p>
                  </a:txBody>
                  <a:tcPr anchor="ctr" marL="91440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能搜索、做表、改文件</a:t>
                      </a:r>
                    </a:p>
                  </a:txBody>
                  <a:tcPr anchor="ctr" marL="91440" marR="54864" marT="18288" marB="18288">
                    <a:solidFill>
                      <a:srgbClr val="F2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记忆（知识库）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有经验、记得住制度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答得准、口径统一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规划（任务拆解）</a:t>
                      </a:r>
                    </a:p>
                  </a:txBody>
                  <a:tcPr anchor="ctr" marL="91440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有方法、会拆步骤</a:t>
                      </a:r>
                    </a:p>
                  </a:txBody>
                  <a:tcPr anchor="ctr" marL="91440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复杂任务分步走</a:t>
                      </a:r>
                    </a:p>
                  </a:txBody>
                  <a:tcPr anchor="ctr" marL="91440" marR="54864" marT="18288" marB="18288">
                    <a:solidFill>
                      <a:srgbClr val="F2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行动（执行）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能把事办成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真正交付结果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 · OpenClaw 聚焦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第二章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Agent 的组成部分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CFD8E8"/>
                </a:solidFill>
                <a:latin typeface="微软雅黑"/>
                <a:ea typeface="微软雅黑"/>
              </a:rPr>
              <a:t>五大核心组件总览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E7888"/>
                </a:solidFill>
                <a:latin typeface="微软雅黑"/>
                <a:ea typeface="微软雅黑"/>
              </a:rPr>
              <a:t>第二章 · 组成部分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微软雅黑"/>
                <a:ea typeface="微软雅黑"/>
              </a:rPr>
              <a:t>2.1 五大核心组件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16736"/>
            <a:ext cx="1463040" cy="5486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55064"/>
            <a:ext cx="10789920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2B2B"/>
                </a:solidFill>
                <a:latin typeface="微软雅黑"/>
                <a:ea typeface="微软雅黑"/>
              </a:rPr>
              <a:t>大脑 · 大模型（LLM）：理解任务、生成内容、做推理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工具 · Tools：联网搜索、读写文件、执行命令、做表格、发邮件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记忆 · Memory：短期上下文 + 长期知识库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规划 · Planning：把大任务拆成一步步的小任务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行动 · Action：真正调用工具、执行并交付结果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 · OpenClaw 聚焦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微软雅黑"/>
                <a:ea typeface="微软雅黑"/>
              </a:rPr>
              <a:t>2.2 组件是如何协作的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463040" cy="5486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594360" y="2468880"/>
            <a:ext cx="1737360" cy="1051560"/>
          </a:xfrm>
          <a:prstGeom prst="chevron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收到任务</a:t>
            </a:r>
          </a:p>
        </p:txBody>
      </p:sp>
      <p:sp>
        <p:nvSpPr>
          <p:cNvPr id="7" name="Chevron 6"/>
          <p:cNvSpPr/>
          <p:nvPr/>
        </p:nvSpPr>
        <p:spPr>
          <a:xfrm>
            <a:off x="2441448" y="2468880"/>
            <a:ext cx="1737360" cy="1051560"/>
          </a:xfrm>
          <a:prstGeom prst="chevron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大脑理解</a:t>
            </a:r>
          </a:p>
        </p:txBody>
      </p:sp>
      <p:sp>
        <p:nvSpPr>
          <p:cNvPr id="8" name="Chevron 7"/>
          <p:cNvSpPr/>
          <p:nvPr/>
        </p:nvSpPr>
        <p:spPr>
          <a:xfrm>
            <a:off x="4288536" y="2468880"/>
            <a:ext cx="1737360" cy="1051560"/>
          </a:xfrm>
          <a:prstGeom prst="chevron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规划拆解</a:t>
            </a:r>
          </a:p>
        </p:txBody>
      </p:sp>
      <p:sp>
        <p:nvSpPr>
          <p:cNvPr id="9" name="Chevron 8"/>
          <p:cNvSpPr/>
          <p:nvPr/>
        </p:nvSpPr>
        <p:spPr>
          <a:xfrm>
            <a:off x="6135624" y="2468880"/>
            <a:ext cx="1737360" cy="1051560"/>
          </a:xfrm>
          <a:prstGeom prst="chevron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调用工具</a:t>
            </a:r>
          </a:p>
        </p:txBody>
      </p:sp>
      <p:sp>
        <p:nvSpPr>
          <p:cNvPr id="10" name="Chevron 9"/>
          <p:cNvSpPr/>
          <p:nvPr/>
        </p:nvSpPr>
        <p:spPr>
          <a:xfrm>
            <a:off x="7982712" y="2468880"/>
            <a:ext cx="1737360" cy="1051560"/>
          </a:xfrm>
          <a:prstGeom prst="chevron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执行行动</a:t>
            </a:r>
          </a:p>
        </p:txBody>
      </p:sp>
      <p:sp>
        <p:nvSpPr>
          <p:cNvPr id="11" name="Chevron 10"/>
          <p:cNvSpPr/>
          <p:nvPr/>
        </p:nvSpPr>
        <p:spPr>
          <a:xfrm>
            <a:off x="9829800" y="2468880"/>
            <a:ext cx="1737360" cy="1051560"/>
          </a:xfrm>
          <a:prstGeom prst="chevron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交付完成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31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6E7888"/>
                </a:solidFill>
                <a:latin typeface="微软雅黑"/>
                <a:ea typeface="微软雅黑"/>
              </a:rPr>
              <a:t>检查反馈：结果不理想 → 回到「规划」微调 → 重新执行，直到任务完成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572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1F9D8B"/>
                </a:solidFill>
                <a:latin typeface="微软雅黑"/>
                <a:ea typeface="微软雅黑"/>
              </a:rPr>
              <a:t>这是一个「感知 → 思考 → 行动」的循环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 · OpenClaw 聚焦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第三章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Agent 的核心技术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CFD8E8"/>
                </a:solidFill>
                <a:latin typeface="微软雅黑"/>
                <a:ea typeface="微软雅黑"/>
              </a:rPr>
              <a:t>记忆 · 技能 · 工具 · MCP · 知识库 ·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微软雅黑"/>
                <a:ea typeface="微软雅黑"/>
              </a:rPr>
              <a:t>3.1 核心技术全景图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463040" cy="5486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13048" y="1463040"/>
            <a:ext cx="4572000" cy="914400"/>
          </a:xfrm>
          <a:prstGeom prst="roundRect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 i="0">
                <a:solidFill>
                  <a:srgbClr val="FFFFFF"/>
                </a:solidFill>
                <a:latin typeface="微软雅黑"/>
                <a:ea typeface="微软雅黑"/>
              </a:rPr>
              <a:t>大脑（大模型 LLM）</a:t>
            </a:r>
          </a:p>
          <a:p>
            <a:pPr algn="ctr"/>
            <a:r>
              <a:rPr sz="1100" b="0" i="0">
                <a:solidFill>
                  <a:srgbClr val="CFD8E8"/>
                </a:solidFill>
                <a:latin typeface="微软雅黑"/>
                <a:ea typeface="微软雅黑"/>
              </a:rPr>
              <a:t>理解 · 推理 · 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4424" y="2560320"/>
            <a:ext cx="7223760" cy="32004"/>
          </a:xfrm>
          <a:prstGeom prst="rect">
            <a:avLst/>
          </a:prstGeom>
          <a:solidFill>
            <a:srgbClr val="CF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5332" y="2377440"/>
            <a:ext cx="32004" cy="214884"/>
          </a:xfrm>
          <a:prstGeom prst="rect">
            <a:avLst/>
          </a:prstGeom>
          <a:solidFill>
            <a:srgbClr val="CF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67965" y="2560320"/>
            <a:ext cx="32004" cy="548640"/>
          </a:xfrm>
          <a:prstGeom prst="rect">
            <a:avLst/>
          </a:prstGeom>
          <a:solidFill>
            <a:srgbClr val="CF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79845" y="2560320"/>
            <a:ext cx="32004" cy="548640"/>
          </a:xfrm>
          <a:prstGeom prst="rect">
            <a:avLst/>
          </a:prstGeom>
          <a:solidFill>
            <a:srgbClr val="CF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91725" y="2560320"/>
            <a:ext cx="32004" cy="548640"/>
          </a:xfrm>
          <a:prstGeom prst="rect">
            <a:avLst/>
          </a:prstGeom>
          <a:solidFill>
            <a:srgbClr val="CFD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8504" y="3108960"/>
            <a:ext cx="3291840" cy="15544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</a:rPr>
              <a:t>记忆 Memory</a:t>
            </a:r>
          </a:p>
          <a:p>
            <a:pPr algn="ctr"/>
            <a:r>
              <a:rPr sz="1200" b="0" i="0">
                <a:solidFill>
                  <a:srgbClr val="CFD8E8"/>
                </a:solidFill>
                <a:latin typeface="微软雅黑"/>
                <a:ea typeface="微软雅黑"/>
              </a:rPr>
              <a:t>短期上下文 · 长期知识库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0384" y="3108960"/>
            <a:ext cx="3291840" cy="1554480"/>
          </a:xfrm>
          <a:prstGeom prst="round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</a:rPr>
              <a:t>工具 Tools</a:t>
            </a:r>
          </a:p>
          <a:p>
            <a:pPr algn="ctr"/>
            <a:r>
              <a:rPr sz="1200" b="0" i="0">
                <a:solidFill>
                  <a:srgbClr val="CFD8E8"/>
                </a:solidFill>
                <a:latin typeface="微软雅黑"/>
                <a:ea typeface="微软雅黑"/>
              </a:rPr>
              <a:t>搜索 / 文件 / 命令 / 邮件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2264" y="3108960"/>
            <a:ext cx="3291840" cy="1554480"/>
          </a:xfrm>
          <a:prstGeom prst="roundRect">
            <a:avLst/>
          </a:prstGeom>
          <a:solidFill>
            <a:srgbClr val="7C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</a:rPr>
              <a:t>技能 Skills</a:t>
            </a:r>
          </a:p>
          <a:p>
            <a:pPr algn="ctr"/>
            <a:r>
              <a:rPr sz="1200" b="0" i="0">
                <a:solidFill>
                  <a:srgbClr val="CFD8E8"/>
                </a:solidFill>
                <a:latin typeface="微软雅黑"/>
                <a:ea typeface="微软雅黑"/>
              </a:rPr>
              <a:t>提示词 + 工具 + 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" y="49377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2B5EA7"/>
                </a:solidFill>
                <a:latin typeface="微软雅黑"/>
                <a:ea typeface="微软雅黑"/>
              </a:rPr>
              <a:t>工具通过 MCP 协议统一接入外部系统——「一次接入，处处可用」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" y="54406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6E7888"/>
                </a:solidFill>
                <a:latin typeface="微软雅黑"/>
                <a:ea typeface="微软雅黑"/>
              </a:rPr>
              <a:t>长期记忆的落地 = 知识库，底层靠 RAG 检索增强生成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 · OpenClaw 聚焦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E7888"/>
                </a:solidFill>
                <a:latin typeface="微软雅黑"/>
                <a:ea typeface="微软雅黑"/>
              </a:rPr>
              <a:t>第三章 · 核心技术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微软雅黑"/>
                <a:ea typeface="微软雅黑"/>
              </a:rPr>
              <a:t>3.2 Memory 记忆机制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16736"/>
            <a:ext cx="1463040" cy="5486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55064"/>
            <a:ext cx="10789920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2B2B"/>
                </a:solidFill>
                <a:latin typeface="微软雅黑"/>
                <a:ea typeface="微软雅黑"/>
              </a:rPr>
              <a:t>短期记忆（工作记忆）：对话上下文窗口，只记住「本次会话」聊过什么</a:t>
            </a:r>
          </a:p>
          <a:p>
            <a:pPr marL="384048" indent="-201168"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6E7888"/>
                </a:solidFill>
                <a:latin typeface="微软雅黑"/>
                <a:ea typeface="微软雅黑"/>
              </a:rPr>
              <a:t>–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会话结束即清空——换个窗口就不记得了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2B2B"/>
                </a:solidFill>
                <a:latin typeface="微软雅黑"/>
                <a:ea typeface="微软雅黑"/>
              </a:rPr>
              <a:t>长期记忆：跨会话持久化——记忆文件（如 CLAUDE.md）、向量库、企业知识库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类比：短期记忆 = 白板（用完擦掉）；长期记忆 = 笔记本（一直留着）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5EA7"/>
                </a:solidFill>
                <a:latin typeface="微软雅黑"/>
                <a:ea typeface="微软雅黑"/>
              </a:rPr>
              <a:t>作用：让 Agent 有「经验」，跨会话保持一致、记得你的偏好与制度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 · OpenClaw 聚焦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E7888"/>
                </a:solidFill>
                <a:latin typeface="微软雅黑"/>
                <a:ea typeface="微软雅黑"/>
              </a:rPr>
              <a:t>第三章 · 核心技术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微软雅黑"/>
                <a:ea typeface="微软雅黑"/>
              </a:rPr>
              <a:t>3.3 Skills 技能（可复用的能力包）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16736"/>
            <a:ext cx="1463040" cy="5486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55064"/>
            <a:ext cx="10789920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5EA7"/>
                </a:solidFill>
                <a:latin typeface="微软雅黑"/>
                <a:ea typeface="微软雅黑"/>
              </a:rPr>
              <a:t>定义：把「如何做好一件事」封装成可复用的能力包（提示词 + 工具 + 流程）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类比：员工的「标准作业程序 SOP」，随取随用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具体例子：办公「周报生成/会议纪要/数据报表」｜客服「查订单/查物流/退换货」｜开发「代码审查/生成测试/重构」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生态：OpenClaw 技能市场 ClawHub、Claude Code Skills、WorkBuddy 技能市场等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价值：能力按需加载、可复用、可分享，避免每次从零描述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 · OpenClaw 聚焦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E7888"/>
                </a:solidFill>
                <a:latin typeface="微软雅黑"/>
                <a:ea typeface="微软雅黑"/>
              </a:rPr>
              <a:t>第三章 · 核心技术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微软雅黑"/>
                <a:ea typeface="微软雅黑"/>
              </a:rPr>
              <a:t>3.4 Tools 工具与函数调用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16736"/>
            <a:ext cx="1463040" cy="5486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55064"/>
            <a:ext cx="10789920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5EA7"/>
                </a:solidFill>
                <a:latin typeface="微软雅黑"/>
                <a:ea typeface="微软雅黑"/>
              </a:rPr>
              <a:t>定义：大模型通过「函数调用（Function Calling）」调用外部能力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一个工具 = 名称 + 描述 + 参数（让模型知道「什么时候用、怎么用」）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例子：联网搜索、读文件、执行命令、发邮件、查数据库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F5A623"/>
                </a:solidFill>
                <a:latin typeface="微软雅黑"/>
                <a:ea typeface="微软雅黑"/>
              </a:rPr>
              <a:t>这是 Agent「从说到做」的关键——没有工具，就只是聊天机器人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 · OpenClaw 聚焦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E7888"/>
                </a:solidFill>
                <a:latin typeface="微软雅黑"/>
                <a:ea typeface="微软雅黑"/>
              </a:rPr>
              <a:t>第三章 · 核心技术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微软雅黑"/>
                <a:ea typeface="微软雅黑"/>
              </a:rPr>
              <a:t>3.5 MCP 模型上下文协议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16736"/>
            <a:ext cx="1463040" cy="5486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55064"/>
            <a:ext cx="10789920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5EA7"/>
                </a:solidFill>
                <a:latin typeface="微软雅黑"/>
                <a:ea typeface="微软雅黑"/>
              </a:rPr>
              <a:t>定义：连接「模型」与「外部工具/数据源」的开放标准协议（Anthropic 2024 年底提出，已成行业标准）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类比：USB-C 接口——一个标准连接所有设备，不用每对组合单独做转接头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解决 M×N 集成问题：以前每个模型 × 每个工具都要单独对接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组成：MCP Server（暴露工具/数据）+ MCP Client（模型发现并调用）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500" b="0" i="0">
                <a:solidFill>
                  <a:srgbClr val="6E7888"/>
                </a:solidFill>
                <a:latin typeface="微软雅黑"/>
                <a:ea typeface="微软雅黑"/>
              </a:rPr>
              <a:t>OpenClaw 等框架都支持 MCP，可接入 Claude/其他工具的 MCP 服务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 · OpenClaw 聚焦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E7888"/>
                </a:solidFill>
                <a:latin typeface="微软雅黑"/>
                <a:ea typeface="微软雅黑"/>
              </a:rPr>
              <a:t>第三章 · 核心技术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微软雅黑"/>
                <a:ea typeface="微软雅黑"/>
              </a:rPr>
              <a:t>3.6 知识库 Knowledge 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16736"/>
            <a:ext cx="1463040" cy="5486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55064"/>
            <a:ext cx="10789920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5EA7"/>
                </a:solidFill>
                <a:latin typeface="微软雅黑"/>
                <a:ea typeface="微软雅黑"/>
              </a:rPr>
              <a:t>定义：把企业制度、产品手册、FAQ 等文档数字化，让 Agent 基于企业知识回答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具体例子：客服知识库（产品 FAQ/退换货政策）｜制度知识库（考勤/报销/差旅）｜技术知识库（产品手册/API 文档）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载体：飞书知识库、腾讯文档、ima、Notion 等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作用：从「通用 AI」变成「懂你公司的 AI」，答得准、口径统一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500" b="0" i="0">
                <a:solidFill>
                  <a:srgbClr val="6E7888"/>
                </a:solidFill>
                <a:latin typeface="微软雅黑"/>
                <a:ea typeface="微软雅黑"/>
              </a:rPr>
              <a:t>这是「记忆」组件里「长期记忆」的落地形态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 · OpenClaw 聚焦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E7888"/>
                </a:solidFill>
                <a:latin typeface="微软雅黑"/>
                <a:ea typeface="微软雅黑"/>
              </a:rPr>
              <a:t>第三章 · 核心技术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微软雅黑"/>
                <a:ea typeface="微软雅黑"/>
              </a:rPr>
              <a:t>3.7 RAG 检索增强生成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16736"/>
            <a:ext cx="1463040" cy="5486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55064"/>
            <a:ext cx="10789920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5EA7"/>
                </a:solidFill>
                <a:latin typeface="微软雅黑"/>
                <a:ea typeface="微软雅黑"/>
              </a:rPr>
              <a:t>定义：回答前先从知识库「检索」相关内容，再让大模型「基于检索结果」生成答案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流程：文档 → 切分(chunking) → 向量化(embedding) → 存入向量库 → 检索 → 生成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三大价值：基于私有/最新知识回答、减少「一本正经地胡说」(幻觉)、可溯源引用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F5A623"/>
                </a:solidFill>
                <a:latin typeface="微软雅黑"/>
                <a:ea typeface="微软雅黑"/>
              </a:rPr>
              <a:t>对比：RAG（检索增强）vs 微调（改模型）——RAG 成本低、更新快，企业首选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 · OpenClaw 聚焦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第四章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市场主流 Agent 一览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CFD8E8"/>
                </a:solidFill>
                <a:latin typeface="微软雅黑"/>
                <a:ea typeface="微软雅黑"/>
              </a:rPr>
              <a:t>产品已经很丰富，本课聚焦开源标杆 OpenClaw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微软雅黑"/>
                <a:ea typeface="微软雅黑"/>
              </a:rPr>
              <a:t>4.1 一张表看懂市场全景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463040" cy="5486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937760"/>
                <a:gridCol w="3566160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类别</a:t>
                      </a:r>
                    </a:p>
                  </a:txBody>
                  <a:tcPr anchor="ctr" marL="91440" marR="54864" marT="18288" marB="18288">
                    <a:solidFill>
                      <a:srgbClr val="2B5EA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代表产品</a:t>
                      </a:r>
                    </a:p>
                  </a:txBody>
                  <a:tcPr anchor="ctr" marL="91440" marR="54864" marT="18288" marB="18288">
                    <a:solidFill>
                      <a:srgbClr val="2B5EA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一句话定位</a:t>
                      </a:r>
                    </a:p>
                  </a:txBody>
                  <a:tcPr anchor="ctr" marL="91440" marR="54864" marT="18288" marB="18288">
                    <a:solidFill>
                      <a:srgbClr val="2B5EA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通用大模型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豆包 / Kimi / 文心 / 通义 / ChatGPT / DeepSeek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写作问答，人人可用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办公智能体</a:t>
                      </a:r>
                    </a:p>
                  </a:txBody>
                  <a:tcPr anchor="ctr" marL="91440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腾讯 WorkBuddy</a:t>
                      </a:r>
                    </a:p>
                  </a:txBody>
                  <a:tcPr anchor="ctr" marL="91440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文职「一句话干活」</a:t>
                      </a:r>
                    </a:p>
                  </a:txBody>
                  <a:tcPr anchor="ctr" marL="91440" marR="54864" marT="18288" marB="18288">
                    <a:solidFill>
                      <a:srgbClr val="F2F5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开源 Agent 框架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OpenClaw / Hermes Agent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自建、多通道（本课主角）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AI 编程 IDE</a:t>
                      </a:r>
                    </a:p>
                  </a:txBody>
                  <a:tcPr anchor="ctr" marL="91440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字节 Trae</a:t>
                      </a:r>
                    </a:p>
                  </a:txBody>
                  <a:tcPr anchor="ctr" marL="91440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开发者写代码</a:t>
                      </a:r>
                    </a:p>
                  </a:txBody>
                  <a:tcPr anchor="ctr" marL="91440" marR="54864" marT="18288" marB="18288">
                    <a:solidFill>
                      <a:srgbClr val="F2F5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终端编程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Claude Code / DeepSeek Harness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命令行里干活</a:t>
                      </a:r>
                    </a:p>
                  </a:txBody>
                  <a:tcPr anchor="ctr" marL="91440" marR="54864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搭建平台</a:t>
                      </a:r>
                    </a:p>
                  </a:txBody>
                  <a:tcPr anchor="ctr" marL="91440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扣子 Coze / 飞书智能伙伴 / Dify</a:t>
                      </a:r>
                    </a:p>
                  </a:txBody>
                  <a:tcPr anchor="ctr" marL="91440" marR="54864" marT="18288" marB="18288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2B2B2B"/>
                          </a:solidFill>
                          <a:latin typeface="微软雅黑"/>
                          <a:ea typeface="微软雅黑"/>
                        </a:rPr>
                        <a:t>可视化搭专属机器人</a:t>
                      </a:r>
                    </a:p>
                  </a:txBody>
                  <a:tcPr anchor="ctr" marL="91440" marR="54864" marT="18288" marB="18288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62356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2B5EA7"/>
                </a:solidFill>
                <a:latin typeface="微软雅黑"/>
                <a:ea typeface="微软雅黑"/>
              </a:rPr>
              <a:t>结论：市场产品已经很多、很成熟——重点不是「列工具」，而是「吃透一类、学会用起来」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 · OpenClaw 聚焦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E7888"/>
                </a:solidFill>
                <a:latin typeface="微软雅黑"/>
                <a:ea typeface="微软雅黑"/>
              </a:rPr>
              <a:t>第四章 · 市场主流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微软雅黑"/>
                <a:ea typeface="微软雅黑"/>
              </a:rPr>
              <a:t>4.2 为什么本课选 OpenClaw 做主线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16736"/>
            <a:ext cx="1463040" cy="5486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55064"/>
            <a:ext cx="10789920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5EA7"/>
                </a:solidFill>
                <a:latin typeface="微软雅黑"/>
                <a:ea typeface="微软雅黑"/>
              </a:rPr>
              <a:t>它是「数字员工」最典型的落地：本地运行、多通道、可扩展、会主动执行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开源标杆：GitHub 25 万+ 星标，腾讯 WorkBuddy 就建立在它之上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概念全覆盖：记忆 / 技能 / 工具 / 规划 / 行动，都能在它身上找到对应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一个点讲透 = 理解一整类 Agent，避免「列举一堆工具、哪个都没学会」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F5A623"/>
                </a:solidFill>
                <a:latin typeface="微软雅黑"/>
                <a:ea typeface="微软雅黑"/>
              </a:rPr>
              <a:t>零成本可复现：MIT 开源、本地部署、接你已经在用的微信 / 飞书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 · OpenClaw 聚焦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第五章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主角登场：OpenClaw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CFD8E8"/>
                </a:solidFill>
                <a:latin typeface="微软雅黑"/>
                <a:ea typeface="微软雅黑"/>
              </a:rPr>
              <a:t>开源 · 本地优先 · 多通道 · 主动执行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E7888"/>
                </a:solidFill>
                <a:latin typeface="微软雅黑"/>
                <a:ea typeface="微软雅黑"/>
              </a:rPr>
              <a:t>第五章 · OpenClaw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微软雅黑"/>
                <a:ea typeface="微软雅黑"/>
              </a:rPr>
              <a:t>5.1 OpenClaw 是什么（小龙虾 🦞）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16736"/>
            <a:ext cx="1463040" cy="5486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55064"/>
            <a:ext cx="10789920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5EA7"/>
                </a:solidFill>
                <a:latin typeface="微软雅黑"/>
                <a:ea typeface="微软雅黑"/>
              </a:rPr>
              <a:t>定位：MIT 开源、本地优先的 AI Agent 框架 / 自动化平台——不是大模型，是「智能体操作系统」</a:t>
            </a:r>
          </a:p>
          <a:p>
            <a:pPr marL="384048" indent="-201168"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6E7888"/>
                </a:solidFill>
                <a:latin typeface="微软雅黑"/>
                <a:ea typeface="微软雅黑"/>
              </a:rPr>
              <a:t>–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它把任意大模型接到你日常用的聊天软件里，让 AI 7×24 替你干活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出身：Peter Steinberger（PSPDFKit 作者）2025.11 发布；吉祥物「小龙虾 Molty」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F5A623"/>
                </a:solidFill>
                <a:latin typeface="微软雅黑"/>
                <a:ea typeface="微软雅黑"/>
              </a:rPr>
              <a:t>现由 OpenClaw 基金会（非营利）维护，OpenAI 支持；GitHub 25 万+ Star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可接任意大模型：Claude / GPT / DeepSeek / 豆包 / 本地模型，随便换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 · OpenClaw 聚焦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微软雅黑"/>
                <a:ea typeface="微软雅黑"/>
              </a:rPr>
              <a:t>5.2 核心架构：一个 Gateway 打通一切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463040" cy="5486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2674620" cy="15544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</a:rPr>
              <a:t>消息渠道</a:t>
            </a:r>
          </a:p>
          <a:p>
            <a:pPr algn="ctr"/>
            <a:r>
              <a:rPr sz="1100" b="0" i="0">
                <a:solidFill>
                  <a:srgbClr val="CFD8E8"/>
                </a:solidFill>
                <a:latin typeface="微软雅黑"/>
                <a:ea typeface="微软雅黑"/>
              </a:rPr>
              <a:t>微信 · 飞书 · QQ · Telegram · Slack…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0420" y="1691640"/>
            <a:ext cx="2674620" cy="1554480"/>
          </a:xfrm>
          <a:prstGeom prst="roundRect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</a:rPr>
              <a:t>Gateway 网关</a:t>
            </a:r>
          </a:p>
          <a:p>
            <a:pPr algn="ctr"/>
            <a:r>
              <a:rPr sz="1100" b="0" i="0">
                <a:solidFill>
                  <a:srgbClr val="CFD8E8"/>
                </a:solidFill>
                <a:latin typeface="微软雅黑"/>
                <a:ea typeface="微软雅黑"/>
              </a:rPr>
              <a:t>本地核心，端口 18789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91640"/>
            <a:ext cx="2674620" cy="1554480"/>
          </a:xfrm>
          <a:prstGeom prst="round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</a:rPr>
              <a:t>大模型 LLM</a:t>
            </a:r>
          </a:p>
          <a:p>
            <a:pPr algn="ctr"/>
            <a:r>
              <a:rPr sz="1100" b="0" i="0">
                <a:solidFill>
                  <a:srgbClr val="CFD8E8"/>
                </a:solidFill>
                <a:latin typeface="微软雅黑"/>
                <a:ea typeface="微软雅黑"/>
              </a:rPr>
              <a:t>Claude / GPT / DeepSeek / 豆包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92540" y="1691640"/>
            <a:ext cx="2674620" cy="1554480"/>
          </a:xfrm>
          <a:prstGeom prst="roundRect">
            <a:avLst/>
          </a:prstGeom>
          <a:solidFill>
            <a:srgbClr val="7C5C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</a:rPr>
              <a:t>工具 · 技能 · 记忆</a:t>
            </a:r>
          </a:p>
          <a:p>
            <a:pPr algn="ctr"/>
            <a:r>
              <a:rPr sz="1100" b="0" i="0">
                <a:solidFill>
                  <a:srgbClr val="CFD8E8"/>
                </a:solidFill>
                <a:latin typeface="微软雅黑"/>
                <a:ea typeface="微软雅黑"/>
              </a:rPr>
              <a:t>搜索 · 文件 · 命令 · 邮件 · SOP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1188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5EA7"/>
                </a:solidFill>
                <a:latin typeface="微软雅黑"/>
                <a:ea typeface="微软雅黑"/>
              </a:rPr>
              <a:t>Gateway 是唯一控制中枢：管模型、管渠道、管密钥、管工具、管记忆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消息进来 → Gateway 路由给模型 → 模型想「动手」就调工具 → 结果沿原渠道回复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F5A623"/>
                </a:solidFill>
                <a:latin typeface="微软雅黑"/>
                <a:ea typeface="微软雅黑"/>
              </a:rPr>
              <a:t>API 密钥只存在本地 Gateway，聊天软件碰不到你的密钥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 · OpenClaw 聚焦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E7888"/>
                </a:solidFill>
                <a:latin typeface="微软雅黑"/>
                <a:ea typeface="微软雅黑"/>
              </a:rPr>
              <a:t>第五章 · OpenClaw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微软雅黑"/>
                <a:ea typeface="微软雅黑"/>
              </a:rPr>
              <a:t>5.3 特点一：多通道——任何聊天软件都是入口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16736"/>
            <a:ext cx="1463040" cy="5486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55064"/>
            <a:ext cx="10789920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5EA7"/>
                </a:solidFill>
                <a:latin typeface="微软雅黑"/>
                <a:ea typeface="微软雅黑"/>
              </a:rPr>
              <a:t>一个 Gateway 同时值守：微信 / 企业微信 / 飞书 / 钉钉 / QQ / Telegram / WhatsApp / Slack / Discord / Signal 等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官方插件（微信、飞书）+ 社区插件（ClawHub），一条命令即装即用</a:t>
            </a:r>
          </a:p>
          <a:p>
            <a:pPr marL="384048" indent="-201168"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6E7888"/>
                </a:solidFill>
                <a:latin typeface="微软雅黑"/>
                <a:ea typeface="微软雅黑"/>
              </a:rPr>
              <a:t>–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你在微信发指令 → 它在电脑上干活 → 微信回你结果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F5A623"/>
                </a:solidFill>
                <a:latin typeface="微软雅黑"/>
                <a:ea typeface="微软雅黑"/>
              </a:rPr>
              <a:t>效果：手机上就有一个 24 小时在线的私人助理，跨平台记忆一致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 · OpenClaw 聚焦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E7888"/>
                </a:solidFill>
                <a:latin typeface="微软雅黑"/>
                <a:ea typeface="微软雅黑"/>
              </a:rPr>
              <a:t>第五章 · OpenClaw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微软雅黑"/>
                <a:ea typeface="微软雅黑"/>
              </a:rPr>
              <a:t>5.4 特点二：记忆 + 技能 + 插件，能力可无限扩展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16736"/>
            <a:ext cx="1463040" cy="5486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55064"/>
            <a:ext cx="10789920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5EA7"/>
                </a:solidFill>
                <a:latin typeface="微软雅黑"/>
                <a:ea typeface="微软雅黑"/>
              </a:rPr>
              <a:t>持久记忆：对话与配置存成本地 Markdown 文件，跨会话、跨渠道都记得你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2B2B"/>
                </a:solidFill>
                <a:latin typeface="微软雅黑"/>
                <a:ea typeface="微软雅黑"/>
              </a:rPr>
              <a:t>技能 Skills：SKILL.md 目录封装「怎么做一件事」，随取随用</a:t>
            </a:r>
          </a:p>
          <a:p>
            <a:pPr marL="384048" indent="-201168"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6E7888"/>
                </a:solidFill>
                <a:latin typeface="微软雅黑"/>
                <a:ea typeface="微软雅黑"/>
              </a:rPr>
              <a:t>–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还能自学习：用自然语言描述需求，AI 自己生成新技能（SKILL.md + 脚本）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2B2B"/>
                </a:solidFill>
                <a:latin typeface="微软雅黑"/>
                <a:ea typeface="微软雅黑"/>
              </a:rPr>
              <a:t>插件 Plugins：从 ClawHub / npm 安装，扩展渠道、模型、语音、媒体、网页抓取等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F5A623"/>
                </a:solidFill>
                <a:latin typeface="微软雅黑"/>
                <a:ea typeface="微软雅黑"/>
              </a:rPr>
              <a:t>类比：记忆 = 笔记本，技能 = 员工 SOP，插件 = 外挂装备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 · OpenClaw 聚焦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E7888"/>
                </a:solidFill>
                <a:latin typeface="微软雅黑"/>
                <a:ea typeface="微软雅黑"/>
              </a:rPr>
              <a:t>第五章 · OpenClaw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微软雅黑"/>
                <a:ea typeface="微软雅黑"/>
              </a:rPr>
              <a:t>5.5 特点三：主动执行——不等你问，自己干活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16736"/>
            <a:ext cx="1463040" cy="5486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55064"/>
            <a:ext cx="10789920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2B2B"/>
                </a:solidFill>
                <a:latin typeface="微软雅黑"/>
                <a:ea typeface="微软雅黑"/>
              </a:rPr>
              <a:t>Heartbeat 心跳：每隔一段时间主动检查待办、审视上下文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Cron 定时任务：精确时间自动执行，如「每天 9 点发新闻摘要」「每周五催周报」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主动通知：任务完成、异常告警，主动推送到你的微信 / 飞书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5EA7"/>
                </a:solidFill>
                <a:latin typeface="微软雅黑"/>
                <a:ea typeface="微软雅黑"/>
              </a:rPr>
              <a:t>这是从「副驾驶」升级到「无人值守数字员工」的关键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500" b="0" i="0">
                <a:solidFill>
                  <a:srgbClr val="6E7888"/>
                </a:solidFill>
                <a:latin typeface="微软雅黑"/>
                <a:ea typeface="微软雅黑"/>
              </a:rPr>
              <a:t>提示：开放式任务要给明确停止条件，避免一直烧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 · OpenClaw 聚焦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E7888"/>
                </a:solidFill>
                <a:latin typeface="微软雅黑"/>
                <a:ea typeface="微软雅黑"/>
              </a:rPr>
              <a:t>第五章 · OpenClaw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微软雅黑"/>
                <a:ea typeface="微软雅黑"/>
              </a:rPr>
              <a:t>5.6 生态与影响力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16736"/>
            <a:ext cx="1463040" cy="5486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55064"/>
            <a:ext cx="10789920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2B2B"/>
                </a:solidFill>
                <a:latin typeface="微软雅黑"/>
                <a:ea typeface="微软雅黑"/>
              </a:rPr>
              <a:t>ClawHub：技能 / 插件市场，社区共享，即搜即装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被大厂采用：腾讯 WorkBuddy 基于 OpenClaw；微信、飞书官方插件均已上线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多模态：语音（TTS / 电话）、Canvas 画布、手机节点（拍照 / 屏幕 / 语音）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多 Agent 协作：可配置多个角色（代码专家、日程管家…）协同分工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F5A623"/>
                </a:solidFill>
                <a:latin typeface="微软雅黑"/>
                <a:ea typeface="微软雅黑"/>
              </a:rPr>
              <a:t>安全：本地运行保隐私、Tailscale 远程加密；全权限 / 沙箱双模式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 · OpenClaw 聚焦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第六章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OpenClaw 上手实战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CFD8E8"/>
                </a:solidFill>
                <a:latin typeface="微软雅黑"/>
                <a:ea typeface="微软雅黑"/>
              </a:rPr>
              <a:t>安装 · 接微信/飞书 · 三个真实案例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E7888"/>
                </a:solidFill>
                <a:latin typeface="微软雅黑"/>
                <a:ea typeface="微软雅黑"/>
              </a:rPr>
              <a:t>第六章 · 上手实战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微软雅黑"/>
                <a:ea typeface="微软雅黑"/>
              </a:rPr>
              <a:t>6.1 三步装好 OpenClaw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16736"/>
            <a:ext cx="1463040" cy="5486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55064"/>
            <a:ext cx="10789920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5EA7"/>
                </a:solidFill>
                <a:latin typeface="微软雅黑"/>
                <a:ea typeface="微软雅黑"/>
              </a:rPr>
              <a:t>① 一行命令安装：</a:t>
            </a:r>
          </a:p>
          <a:p>
            <a:pPr marL="384048" indent="-201168"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6E7888"/>
                </a:solidFill>
                <a:latin typeface="微软雅黑"/>
                <a:ea typeface="微软雅黑"/>
              </a:rPr>
              <a:t>–  </a:t>
            </a:r>
            <a:r>
              <a:rPr sz="1800" b="0" i="0">
                <a:solidFill>
                  <a:srgbClr val="1F3A5F"/>
                </a:solidFill>
                <a:latin typeface="微软雅黑"/>
                <a:ea typeface="微软雅黑"/>
              </a:rPr>
              <a:t>macOS / Linux / WSL2：curl -fsSL https://openclaw.ai/install.sh | bash</a:t>
            </a:r>
          </a:p>
          <a:p>
            <a:pPr marL="384048" indent="-201168"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6E7888"/>
                </a:solidFill>
                <a:latin typeface="微软雅黑"/>
                <a:ea typeface="微软雅黑"/>
              </a:rPr>
              <a:t>–  </a:t>
            </a:r>
            <a:r>
              <a:rPr sz="1800" b="0" i="0">
                <a:solidFill>
                  <a:srgbClr val="1F3A5F"/>
                </a:solidFill>
                <a:latin typeface="微软雅黑"/>
                <a:ea typeface="微软雅黑"/>
              </a:rPr>
              <a:t>Windows PowerShell：iwr -useb https://openclaw.ai/install.ps1 | iex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2B2B"/>
                </a:solidFill>
                <a:latin typeface="微软雅黑"/>
                <a:ea typeface="微软雅黑"/>
              </a:rPr>
              <a:t>② 运行 onboarding 向导：openclaw onboard（选模型 + 接渠道）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600" b="0" i="0">
                <a:solidFill>
                  <a:srgbClr val="6E7888"/>
                </a:solidFill>
                <a:latin typeface="微软雅黑"/>
                <a:ea typeface="微软雅黑"/>
              </a:rPr>
              <a:t>③ 常用命令：openclaw gateway status / restart、openclaw logs --follow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 · OpenClaw 聚焦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E7888"/>
                </a:solidFill>
                <a:latin typeface="微软雅黑"/>
                <a:ea typeface="微软雅黑"/>
              </a:rPr>
              <a:t>第六章 · 上手实战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微软雅黑"/>
                <a:ea typeface="微软雅黑"/>
              </a:rPr>
              <a:t>6.2 接入微信 / 飞书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16736"/>
            <a:ext cx="1463040" cy="5486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55064"/>
            <a:ext cx="10789920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5EA7"/>
                </a:solidFill>
                <a:latin typeface="微软雅黑"/>
                <a:ea typeface="微软雅黑"/>
              </a:rPr>
              <a:t>微信（腾讯官方插件）：</a:t>
            </a:r>
          </a:p>
          <a:p>
            <a:pPr marL="384048" indent="-201168"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6E7888"/>
                </a:solidFill>
                <a:latin typeface="微软雅黑"/>
                <a:ea typeface="微软雅黑"/>
              </a:rPr>
              <a:t>–  </a:t>
            </a:r>
            <a:r>
              <a:rPr sz="1800" b="0" i="0">
                <a:solidFill>
                  <a:srgbClr val="1F3A5F"/>
                </a:solidFill>
                <a:latin typeface="微软雅黑"/>
                <a:ea typeface="微软雅黑"/>
              </a:rPr>
              <a:t>npx -y @tencent-weixin/openclaw-weixin-cli install</a:t>
            </a:r>
          </a:p>
          <a:p>
            <a:pPr marL="384048" indent="-201168">
              <a:spcBef>
                <a:spcPts val="0"/>
              </a:spcBef>
              <a:spcAft>
                <a:spcPts val="500"/>
              </a:spcAft>
            </a:pPr>
            <a:r>
              <a:rPr sz="1800" b="1" i="0">
                <a:solidFill>
                  <a:srgbClr val="6E7888"/>
                </a:solidFill>
                <a:latin typeface="微软雅黑"/>
                <a:ea typeface="微软雅黑"/>
              </a:rPr>
              <a:t>–  </a:t>
            </a:r>
            <a:r>
              <a:rPr sz="1800" b="0" i="0">
                <a:solidFill>
                  <a:srgbClr val="1F3A5F"/>
                </a:solidFill>
                <a:latin typeface="微软雅黑"/>
                <a:ea typeface="微软雅黑"/>
              </a:rPr>
              <a:t>openclaw channels login --channel openclaw-weixin → 手机扫码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2B2B"/>
                </a:solidFill>
                <a:latin typeface="微软雅黑"/>
                <a:ea typeface="微软雅黑"/>
              </a:rPr>
              <a:t>飞书（官方插件）：openclaw channels add → 选 Feishu → 填 App ID/Secret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2B2B"/>
                </a:solidFill>
                <a:latin typeface="微软雅黑"/>
                <a:ea typeface="微软雅黑"/>
              </a:rPr>
              <a:t>企业微信 / 钉钉 / QQ：openclaw plugins install 对应包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500" b="0" i="0">
                <a:solidFill>
                  <a:srgbClr val="6E7888"/>
                </a:solidFill>
                <a:latin typeface="微软雅黑"/>
                <a:ea typeface="微软雅黑"/>
              </a:rPr>
              <a:t>装完重启：openclaw gateway restart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 · OpenClaw 聚焦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E7888"/>
                </a:solidFill>
                <a:latin typeface="微软雅黑"/>
                <a:ea typeface="微软雅黑"/>
              </a:rPr>
              <a:t>第六章 · 上手实战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微软雅黑"/>
                <a:ea typeface="微软雅黑"/>
              </a:rPr>
              <a:t>6.3 案例①：7×24 智能客服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16736"/>
            <a:ext cx="1463040" cy="5486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55064"/>
            <a:ext cx="10789920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2B2B"/>
                </a:solidFill>
                <a:latin typeface="微软雅黑"/>
                <a:ea typeface="微软雅黑"/>
              </a:rPr>
              <a:t>一个 Gateway 同时值守微信 + 飞书 + 网站留言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灌知识库：上传产品 FAQ、退换货政策（RAG 检索，答得准）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挂技能：把「查订单 / 查物流 / 退款流程」封装成 Skills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持久记忆：记住客户偏好与历史会话，跨渠道一致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F5A623"/>
                </a:solidFill>
                <a:latin typeface="微软雅黑"/>
                <a:ea typeface="微软雅黑"/>
              </a:rPr>
              <a:t>复杂问题转人工：webhook 自动升级到工单 / 坐席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 · OpenClaw 聚焦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E7888"/>
                </a:solidFill>
                <a:latin typeface="微软雅黑"/>
                <a:ea typeface="微软雅黑"/>
              </a:rPr>
              <a:t>第六章 · 上手实战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微软雅黑"/>
                <a:ea typeface="微软雅黑"/>
              </a:rPr>
              <a:t>6.4 案例②：定时周报 / 主动提醒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16736"/>
            <a:ext cx="1463040" cy="5486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55064"/>
            <a:ext cx="10789920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2B2B"/>
                </a:solidFill>
                <a:latin typeface="微软雅黑"/>
                <a:ea typeface="微软雅黑"/>
              </a:rPr>
              <a:t>Cron 定时：每周五 17:00 自动汇总本周任务，生成周报发到你微信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每天 9:00 推送今日新闻 / 日程摘要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Heartbeat 定期检查：临近截止日期主动提醒你、附上相关文件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F5A623"/>
                </a:solidFill>
                <a:latin typeface="微软雅黑"/>
                <a:ea typeface="微软雅黑"/>
              </a:rPr>
              <a:t>会议邀请自动读取 → 检查日历冲突 → 主动问你「是否接受」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 · OpenClaw 聚焦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E7888"/>
                </a:solidFill>
                <a:latin typeface="微软雅黑"/>
                <a:ea typeface="微软雅黑"/>
              </a:rPr>
              <a:t>第六章 · 上手实战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微软雅黑"/>
                <a:ea typeface="微软雅黑"/>
              </a:rPr>
              <a:t>6.5 案例③：个人助理 / 编程助手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16736"/>
            <a:ext cx="1463040" cy="5486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55064"/>
            <a:ext cx="10789920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2B2B"/>
                </a:solidFill>
                <a:latin typeface="微软雅黑"/>
                <a:ea typeface="微软雅黑"/>
              </a:rPr>
              <a:t>办公：发邮件、做表格、整理文件、浏览器自动化、查资料出简报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2B2B"/>
                </a:solidFill>
                <a:latin typeface="微软雅黑"/>
                <a:ea typeface="微软雅黑"/>
              </a:rPr>
              <a:t>编程：读写文件、跑命令、查 Bug、写测试、git（Code Mode + 多 Agent）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文件收发：发 PDF / Word / Excel 给它读，或让它生成后直接发回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F5A623"/>
                </a:solidFill>
                <a:latin typeface="微软雅黑"/>
                <a:ea typeface="微软雅黑"/>
              </a:rPr>
              <a:t>语音：发语音消息 → 自动转文字处理；配语音插件可直接打电话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 · OpenClaw 聚焦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第七章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落地建议与总结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CFD8E8"/>
                </a:solidFill>
                <a:latin typeface="微软雅黑"/>
                <a:ea typeface="微软雅黑"/>
              </a:rPr>
              <a:t>从今天开始用起来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E7888"/>
                </a:solidFill>
                <a:latin typeface="微软雅黑"/>
                <a:ea typeface="微软雅黑"/>
              </a:rPr>
              <a:t>第七章 · 落地建议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微软雅黑"/>
                <a:ea typeface="微软雅黑"/>
              </a:rPr>
              <a:t>7.1 哪些活适合交给 Agent（场景清单）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16736"/>
            <a:ext cx="1463040" cy="5486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55064"/>
            <a:ext cx="10789920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写：周报月报、会议纪要、通知、新闻稿初稿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算：数据汇总、表格整理、公式处理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查：资料检索、制度问答、政策解读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排：会议安排、任务提醒、流程跟进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编：写代码、查 Bug、重构、写测试（技术岗）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 · OpenClaw 聚焦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E7888"/>
                </a:solidFill>
                <a:latin typeface="微软雅黑"/>
                <a:ea typeface="微软雅黑"/>
              </a:rPr>
              <a:t>第七章 · 落地建议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微软雅黑"/>
                <a:ea typeface="微软雅黑"/>
              </a:rPr>
              <a:t>7.2 上手三步法（围绕 OpenClaw）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16736"/>
            <a:ext cx="1463040" cy="5486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55064"/>
            <a:ext cx="10789920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5EA7"/>
                </a:solidFill>
                <a:latin typeface="微软雅黑"/>
                <a:ea typeface="微软雅黑"/>
              </a:rPr>
              <a:t>第一步 · 装好 OpenClaw：一条命令 + onboarding 向导，接入你的微信 / 飞书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第二步 · 找一个具体任务：把一件重复的小事完整交给它（如「每天发摘要」）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第三步 · 持续迭代：沉淀技能、知识库、定时任务，越用越顺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 · OpenClaw 聚焦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E7888"/>
                </a:solidFill>
                <a:latin typeface="微软雅黑"/>
                <a:ea typeface="微软雅黑"/>
              </a:rPr>
              <a:t>第七章 · 落地建议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微软雅黑"/>
                <a:ea typeface="微软雅黑"/>
              </a:rPr>
              <a:t>7.3 提示词最佳实践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16736"/>
            <a:ext cx="1463040" cy="5486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55064"/>
            <a:ext cx="10789920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2B2B"/>
                </a:solidFill>
                <a:latin typeface="微软雅黑"/>
                <a:ea typeface="微软雅黑"/>
              </a:rPr>
              <a:t>清晰胜过聪明：指令越明确、上下文越详细，结果越好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迭代胜过完美：先拿到能用的结果，再多轮对话逐步优化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验证胜过信任：AI 可能出错，关键结果要人工审查、跑测试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上下文管理：用「文件引用」代替粘贴大段代码，分层、渐进提供信息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 · OpenClaw 聚焦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E7888"/>
                </a:solidFill>
                <a:latin typeface="微软雅黑"/>
                <a:ea typeface="微软雅黑"/>
              </a:rPr>
              <a:t>第七章 · 落地建议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微软雅黑"/>
                <a:ea typeface="微软雅黑"/>
              </a:rPr>
              <a:t>7.4 安全与注意事项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16736"/>
            <a:ext cx="1463040" cy="5486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55064"/>
            <a:ext cx="10789920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2B2B"/>
                </a:solidFill>
                <a:latin typeface="微软雅黑"/>
                <a:ea typeface="微软雅黑"/>
              </a:rPr>
              <a:t>敏感数据：涉密 / 客户隐私信息不要随意上传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结果核对：AI 可能「一本正经地胡说」，重要内容必须人工复核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权限控制：优先用沙箱模式，敏感操作（付款 / 删除）设人工确认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口径统一：知识库要定期更新，避免答错旧制度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版权与合规：遵守公司信息安全与使用规范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 · OpenClaw 聚焦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E7888"/>
                </a:solidFill>
                <a:latin typeface="微软雅黑"/>
                <a:ea typeface="微软雅黑"/>
              </a:rPr>
              <a:t>第七章 · 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F3A5F"/>
                </a:solidFill>
                <a:latin typeface="微软雅黑"/>
                <a:ea typeface="微软雅黑"/>
              </a:rPr>
              <a:t>7.5 总结与展望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16736"/>
            <a:ext cx="1463040" cy="54864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55064"/>
            <a:ext cx="10789920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2B2B"/>
                </a:solidFill>
                <a:latin typeface="微软雅黑"/>
                <a:ea typeface="微软雅黑"/>
              </a:rPr>
              <a:t>核心：Agent = 大模型 + 工具 + 记忆 + 规划 + 行动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2B5EA7"/>
                </a:solidFill>
                <a:latin typeface="微软雅黑"/>
                <a:ea typeface="微软雅黑"/>
              </a:rPr>
              <a:t>主角：OpenClaw = 一个 Gateway 打通「模型 × 渠道 × 技能 × 记忆」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心态：把它当「数字员工」，从一件小事开始用起来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1" i="0">
                <a:solidFill>
                  <a:srgbClr val="F5A623"/>
                </a:solidFill>
                <a:latin typeface="微软雅黑"/>
                <a:ea typeface="微软雅黑"/>
              </a:rPr>
              <a:t>展望：未来每个岗位都有一个「AI 助手」，人成为「智能体管理者」</a:t>
            </a:r>
          </a:p>
          <a:p>
            <a:pPr marL="0"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F9D8B"/>
                </a:solidFill>
                <a:latin typeface="微软雅黑"/>
                <a:ea typeface="微软雅黑"/>
              </a:rPr>
              <a:t>●  </a:t>
            </a:r>
            <a:r>
              <a:rPr sz="1800" b="0" i="0">
                <a:solidFill>
                  <a:srgbClr val="2B2B2B"/>
                </a:solidFill>
                <a:latin typeface="微软雅黑"/>
                <a:ea typeface="微软雅黑"/>
              </a:rPr>
              <a:t>行动：今天就装 OpenClaw → 接微信 → 交一件任务试试看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8BE"/>
                </a:solidFill>
                <a:latin typeface="微软雅黑"/>
                <a:ea typeface="微软雅黑"/>
              </a:rPr>
              <a:t>AI Agent 入门与工作提效实战 · OpenClaw 聚焦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